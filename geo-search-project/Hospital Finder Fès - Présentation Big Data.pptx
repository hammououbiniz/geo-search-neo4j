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71972B-577D-4BF5-86DE-C7F56973DE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BA21E1-34DD-4A65-A598-83937CBD44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2D5DA8-8547-4719-8750-8C590316BB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754266-6618-4981-AF57-ACF283F4C8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1A637F-4B29-43EF-A029-D1F34560FC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26FDEE-6E92-4929-AD58-10B52E9A59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EF5CCF-A225-4353-AD74-6D3657F94E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3BE4B1-1905-4E94-BA7A-13CBEDF7BC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F29725-6A40-4B91-A82D-EA972A3CB8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F7299A-40F8-47D2-9813-28186531C7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4CC411-41E7-4C8A-B247-717C139128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jpeg"/><Relationship Id="rId8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jpe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jpeg"/><Relationship Id="rId8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44b54b">
                  <a:alpha val="92000"/>
                </a:srgbClr>
              </a:gs>
              <a:gs pos="100000">
                <a:srgbClr val="1399ff">
                  <a:alpha val="88000"/>
                </a:srgbClr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Picture 3" descr="image.png"/>
          <p:cNvPicPr/>
          <p:nvPr/>
        </p:nvPicPr>
        <p:blipFill>
          <a:blip r:embed="rId2"/>
          <a:stretch/>
        </p:blipFill>
        <p:spPr>
          <a:xfrm>
            <a:off x="5752800" y="1339920"/>
            <a:ext cx="68544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2314440" y="2228760"/>
            <a:ext cx="75528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5851"/>
              </a:lnSpc>
              <a:spcAft>
                <a:spcPts val="2081"/>
              </a:spcAf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Hospital Finder Fès</a:t>
            </a:r>
            <a:endParaRPr lang="en-US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4572000" y="3390840"/>
            <a:ext cx="3047400" cy="37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085920" y="3733920"/>
            <a:ext cx="6019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081"/>
              </a:lnSpc>
              <a:spcAft>
                <a:spcPts val="3121"/>
              </a:spcAft>
            </a:pPr>
            <a:r>
              <a:rPr lang="en-US" sz="143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Système de Géolocalisation des Établissements de Santé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3790800" y="4495680"/>
            <a:ext cx="4600080" cy="495000"/>
          </a:xfrm>
          <a:prstGeom prst="roundRect">
            <a:avLst>
              <a:gd name="adj" fmla="val 30769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095720" y="4610160"/>
            <a:ext cx="3990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Mini-projet Big Data — BIAM 1ère année 2025-2026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0" y="5638680"/>
            <a:ext cx="12191400" cy="1218960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10" descr="image.png"/>
          <p:cNvPicPr/>
          <p:nvPr/>
        </p:nvPicPr>
        <p:blipFill>
          <a:blip r:embed="rId3"/>
          <a:stretch/>
        </p:blipFill>
        <p:spPr>
          <a:xfrm>
            <a:off x="2600280" y="6152760"/>
            <a:ext cx="2664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1"/>
          <p:cNvSpPr/>
          <p:nvPr/>
        </p:nvSpPr>
        <p:spPr>
          <a:xfrm>
            <a:off x="2981160" y="6076800"/>
            <a:ext cx="1256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Amina Akkal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2981160" y="6267600"/>
            <a:ext cx="1256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Données &amp; Infrastructure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4838400" y="6019920"/>
            <a:ext cx="9000" cy="45684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14" descr="image.png"/>
          <p:cNvPicPr/>
          <p:nvPr/>
        </p:nvPicPr>
        <p:blipFill>
          <a:blip r:embed="rId4"/>
          <a:stretch/>
        </p:blipFill>
        <p:spPr>
          <a:xfrm>
            <a:off x="5457600" y="6144120"/>
            <a:ext cx="26640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15"/>
          <p:cNvSpPr/>
          <p:nvPr/>
        </p:nvSpPr>
        <p:spPr>
          <a:xfrm>
            <a:off x="5838840" y="607680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Hammou Oubiniz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5838840" y="6267600"/>
            <a:ext cx="1047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Requêtes Cypher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7"/>
          <p:cNvSpPr/>
          <p:nvPr/>
        </p:nvSpPr>
        <p:spPr>
          <a:xfrm>
            <a:off x="7495920" y="6019920"/>
            <a:ext cx="9000" cy="45684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18" descr="image.png"/>
          <p:cNvPicPr/>
          <p:nvPr/>
        </p:nvPicPr>
        <p:blipFill>
          <a:blip r:embed="rId5"/>
          <a:stretch/>
        </p:blipFill>
        <p:spPr>
          <a:xfrm>
            <a:off x="8115120" y="6152760"/>
            <a:ext cx="2664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19"/>
          <p:cNvSpPr/>
          <p:nvPr/>
        </p:nvSpPr>
        <p:spPr>
          <a:xfrm>
            <a:off x="8496000" y="6076800"/>
            <a:ext cx="1095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Jaouad El Morabit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8496000" y="6267600"/>
            <a:ext cx="1095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040"/>
              </a:lnSpc>
            </a:pPr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Application Web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gradFill rotWithShape="0">
            <a:gsLst>
              <a:gs pos="0">
                <a:srgbClr val="44b54b">
                  <a:alpha val="15000"/>
                </a:srgbClr>
              </a:gs>
              <a:gs pos="100000">
                <a:srgbClr val="fefefe">
                  <a:alpha val="85000"/>
                </a:srgbClr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6095880" y="0"/>
            <a:ext cx="6095520" cy="114264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6553080" y="0"/>
            <a:ext cx="51811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Contexte &amp; Problématique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5" descr="image.png"/>
          <p:cNvPicPr/>
          <p:nvPr/>
        </p:nvPicPr>
        <p:blipFill>
          <a:blip r:embed="rId2"/>
          <a:stretch/>
        </p:blipFill>
        <p:spPr>
          <a:xfrm>
            <a:off x="6553080" y="1870920"/>
            <a:ext cx="342360" cy="27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6"/>
          <p:cNvSpPr/>
          <p:nvPr/>
        </p:nvSpPr>
        <p:spPr>
          <a:xfrm>
            <a:off x="7010280" y="1857240"/>
            <a:ext cx="1095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lang="en-US" sz="143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Contexte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7"/>
          <p:cNvSpPr/>
          <p:nvPr/>
        </p:nvSpPr>
        <p:spPr>
          <a:xfrm>
            <a:off x="7010280" y="2486160"/>
            <a:ext cx="75960" cy="75960"/>
          </a:xfrm>
          <a:prstGeom prst="roundRect">
            <a:avLst>
              <a:gd name="adj" fmla="val 24997500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7200720" y="2409840"/>
            <a:ext cx="23904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1,2 million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Roboto Flex"/>
              </a:rPr>
              <a:t> d'habitants à Fès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9"/>
          <p:cNvSpPr/>
          <p:nvPr/>
        </p:nvSpPr>
        <p:spPr>
          <a:xfrm>
            <a:off x="7010280" y="2905200"/>
            <a:ext cx="75960" cy="75960"/>
          </a:xfrm>
          <a:prstGeom prst="roundRect">
            <a:avLst>
              <a:gd name="adj" fmla="val 24997500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7200720" y="2828880"/>
            <a:ext cx="3771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Roboto Flex"/>
              </a:rPr>
              <a:t>Centaines d'établissements de santé répartis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1"/>
          <p:cNvSpPr/>
          <p:nvPr/>
        </p:nvSpPr>
        <p:spPr>
          <a:xfrm>
            <a:off x="7010280" y="3324240"/>
            <a:ext cx="75960" cy="75960"/>
          </a:xfrm>
          <a:prstGeom prst="roundRect">
            <a:avLst>
              <a:gd name="adj" fmla="val 24997500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8640" bIns="8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7200720" y="3247920"/>
            <a:ext cx="3876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Roboto Flex"/>
              </a:rPr>
              <a:t>Difficulté de trouver rapidement le plus proche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13" descr="image.png"/>
          <p:cNvPicPr/>
          <p:nvPr/>
        </p:nvPicPr>
        <p:blipFill>
          <a:blip r:embed="rId3"/>
          <a:stretch/>
        </p:blipFill>
        <p:spPr>
          <a:xfrm>
            <a:off x="6553080" y="3998520"/>
            <a:ext cx="34236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14"/>
          <p:cNvSpPr/>
          <p:nvPr/>
        </p:nvSpPr>
        <p:spPr>
          <a:xfrm>
            <a:off x="7010280" y="3990960"/>
            <a:ext cx="1780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lang="en-US" sz="143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Problématique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5"/>
          <p:cNvSpPr/>
          <p:nvPr/>
        </p:nvSpPr>
        <p:spPr>
          <a:xfrm>
            <a:off x="7010280" y="4543560"/>
            <a:ext cx="4723920" cy="1618920"/>
          </a:xfrm>
          <a:prstGeom prst="roundRect">
            <a:avLst>
              <a:gd name="adj" fmla="val 941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 Same Side Corner Rectangle 16"/>
          <p:cNvSpPr/>
          <p:nvPr/>
        </p:nvSpPr>
        <p:spPr>
          <a:xfrm rot="16200000">
            <a:off x="6266520" y="5287320"/>
            <a:ext cx="1618920" cy="1317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7"/>
          <p:cNvSpPr/>
          <p:nvPr/>
        </p:nvSpPr>
        <p:spPr>
          <a:xfrm>
            <a:off x="7277040" y="4734000"/>
            <a:ext cx="4228560" cy="12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2081"/>
              </a:lnSpc>
            </a:pP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Roboto Flex"/>
              </a:rPr>
              <a:t> Comment exploiter les données géographiques ouvertes </a:t>
            </a: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OpenStreetMap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Roboto Flex"/>
              </a:rPr>
              <a:t> et </a:t>
            </a: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Neo4j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Roboto Flex"/>
              </a:rPr>
              <a:t> pour fournir un outil de recherche spatiale efficace des établissements de santé ?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80928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09480" y="114480"/>
            <a:ext cx="43430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Objectifs du Projet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"/>
          <p:cNvSpPr/>
          <p:nvPr/>
        </p:nvSpPr>
        <p:spPr>
          <a:xfrm>
            <a:off x="609480" y="2095560"/>
            <a:ext cx="5333400" cy="1590480"/>
          </a:xfrm>
          <a:prstGeom prst="roundRect">
            <a:avLst>
              <a:gd name="adj" fmla="val 14371"/>
            </a:avLst>
          </a:prstGeom>
          <a:solidFill>
            <a:srgbClr val="44b54b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ound Same Side Corner Rectangle 4"/>
          <p:cNvSpPr/>
          <p:nvPr/>
        </p:nvSpPr>
        <p:spPr>
          <a:xfrm rot="16200000">
            <a:off x="-102960" y="2808360"/>
            <a:ext cx="159048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5"/>
          <p:cNvSpPr/>
          <p:nvPr/>
        </p:nvSpPr>
        <p:spPr>
          <a:xfrm>
            <a:off x="961920" y="2400480"/>
            <a:ext cx="761760" cy="761760"/>
          </a:xfrm>
          <a:prstGeom prst="roundRect">
            <a:avLst>
              <a:gd name="adj" fmla="val 24997500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1133280" y="2590920"/>
            <a:ext cx="409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lang="en-US" sz="2150" b="1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01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7" descr="image.png"/>
          <p:cNvPicPr/>
          <p:nvPr/>
        </p:nvPicPr>
        <p:blipFill>
          <a:blip r:embed="rId1"/>
          <a:stretch/>
        </p:blipFill>
        <p:spPr>
          <a:xfrm>
            <a:off x="1952640" y="2444400"/>
            <a:ext cx="304560" cy="2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8"/>
          <p:cNvSpPr/>
          <p:nvPr/>
        </p:nvSpPr>
        <p:spPr>
          <a:xfrm>
            <a:off x="2371680" y="2419200"/>
            <a:ext cx="2399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Collecter les Données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1952640" y="2819520"/>
            <a:ext cx="36856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85"/>
              </a:lnSpc>
            </a:pP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Établissements de santé de Fès depuis </a:t>
            </a:r>
            <a:r>
              <a:rPr lang="en-US" sz="107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OpenStreetMap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via Overpass API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10"/>
          <p:cNvSpPr/>
          <p:nvPr/>
        </p:nvSpPr>
        <p:spPr>
          <a:xfrm>
            <a:off x="6248160" y="2095560"/>
            <a:ext cx="5333400" cy="1590480"/>
          </a:xfrm>
          <a:prstGeom prst="roundRect">
            <a:avLst>
              <a:gd name="adj" fmla="val 14371"/>
            </a:avLst>
          </a:prstGeom>
          <a:solidFill>
            <a:srgbClr val="1399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 Same Side Corner Rectangle 11"/>
          <p:cNvSpPr/>
          <p:nvPr/>
        </p:nvSpPr>
        <p:spPr>
          <a:xfrm rot="16200000">
            <a:off x="5535360" y="2808360"/>
            <a:ext cx="159048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6600600" y="2400480"/>
            <a:ext cx="761760" cy="761760"/>
          </a:xfrm>
          <a:prstGeom prst="roundRect">
            <a:avLst>
              <a:gd name="adj" fmla="val 24997500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6771960" y="2590920"/>
            <a:ext cx="409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lang="en-US" sz="215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02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14" descr="image.png"/>
          <p:cNvPicPr/>
          <p:nvPr/>
        </p:nvPicPr>
        <p:blipFill>
          <a:blip r:embed="rId2"/>
          <a:stretch/>
        </p:blipFill>
        <p:spPr>
          <a:xfrm>
            <a:off x="7591320" y="2444400"/>
            <a:ext cx="304560" cy="2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15"/>
          <p:cNvSpPr/>
          <p:nvPr/>
        </p:nvSpPr>
        <p:spPr>
          <a:xfrm>
            <a:off x="8010360" y="2419200"/>
            <a:ext cx="2057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Stocker dans Neo4j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6"/>
          <p:cNvSpPr/>
          <p:nvPr/>
        </p:nvSpPr>
        <p:spPr>
          <a:xfrm>
            <a:off x="7591320" y="2819520"/>
            <a:ext cx="36856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85"/>
              </a:lnSpc>
            </a:pP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Exploiter les types spatiaux natifs </a:t>
            </a: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point()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pour les coordonnées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7"/>
          <p:cNvSpPr/>
          <p:nvPr/>
        </p:nvSpPr>
        <p:spPr>
          <a:xfrm>
            <a:off x="609480" y="3981600"/>
            <a:ext cx="5333400" cy="1590480"/>
          </a:xfrm>
          <a:prstGeom prst="roundRect">
            <a:avLst>
              <a:gd name="adj" fmla="val 14371"/>
            </a:avLst>
          </a:prstGeom>
          <a:solidFill>
            <a:srgbClr val="44b54b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ound Same Side Corner Rectangle 18"/>
          <p:cNvSpPr/>
          <p:nvPr/>
        </p:nvSpPr>
        <p:spPr>
          <a:xfrm rot="16200000">
            <a:off x="-102960" y="4694400"/>
            <a:ext cx="159048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19"/>
          <p:cNvSpPr/>
          <p:nvPr/>
        </p:nvSpPr>
        <p:spPr>
          <a:xfrm>
            <a:off x="961920" y="4286160"/>
            <a:ext cx="761760" cy="761760"/>
          </a:xfrm>
          <a:prstGeom prst="roundRect">
            <a:avLst>
              <a:gd name="adj" fmla="val 24997500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0"/>
          <p:cNvSpPr/>
          <p:nvPr/>
        </p:nvSpPr>
        <p:spPr>
          <a:xfrm>
            <a:off x="1133280" y="4476600"/>
            <a:ext cx="409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lang="en-US" sz="2150" b="1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03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21" descr="image.png"/>
          <p:cNvPicPr/>
          <p:nvPr/>
        </p:nvPicPr>
        <p:blipFill>
          <a:blip r:embed="rId3"/>
          <a:stretch/>
        </p:blipFill>
        <p:spPr>
          <a:xfrm>
            <a:off x="1952640" y="4330080"/>
            <a:ext cx="304560" cy="2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22"/>
          <p:cNvSpPr/>
          <p:nvPr/>
        </p:nvSpPr>
        <p:spPr>
          <a:xfrm>
            <a:off x="2371680" y="4305240"/>
            <a:ext cx="274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Développer l'Application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3"/>
          <p:cNvSpPr/>
          <p:nvPr/>
        </p:nvSpPr>
        <p:spPr>
          <a:xfrm>
            <a:off x="1952640" y="4705200"/>
            <a:ext cx="36856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885"/>
              </a:lnSpc>
            </a:pP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Application web </a:t>
            </a:r>
            <a:r>
              <a:rPr lang="en-US" sz="107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Flask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avec recherche par proximité géographique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4"/>
          <p:cNvSpPr/>
          <p:nvPr/>
        </p:nvSpPr>
        <p:spPr>
          <a:xfrm>
            <a:off x="6248160" y="3981600"/>
            <a:ext cx="5333400" cy="1590480"/>
          </a:xfrm>
          <a:prstGeom prst="roundRect">
            <a:avLst>
              <a:gd name="adj" fmla="val 14371"/>
            </a:avLst>
          </a:prstGeom>
          <a:solidFill>
            <a:srgbClr val="1399ff">
              <a:alpha val="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 Same Side Corner Rectangle 25"/>
          <p:cNvSpPr/>
          <p:nvPr/>
        </p:nvSpPr>
        <p:spPr>
          <a:xfrm rot="16200000">
            <a:off x="5535360" y="4694400"/>
            <a:ext cx="159048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ounded Rectangle 26"/>
          <p:cNvSpPr/>
          <p:nvPr/>
        </p:nvSpPr>
        <p:spPr>
          <a:xfrm>
            <a:off x="6600600" y="4286160"/>
            <a:ext cx="761760" cy="761760"/>
          </a:xfrm>
          <a:prstGeom prst="roundRect">
            <a:avLst>
              <a:gd name="adj" fmla="val 24997500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7"/>
          <p:cNvSpPr/>
          <p:nvPr/>
        </p:nvSpPr>
        <p:spPr>
          <a:xfrm>
            <a:off x="6771960" y="4476600"/>
            <a:ext cx="409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599"/>
              </a:lnSpc>
            </a:pPr>
            <a:r>
              <a:rPr lang="en-US" sz="215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04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28" descr="image.png"/>
          <p:cNvPicPr/>
          <p:nvPr/>
        </p:nvPicPr>
        <p:blipFill>
          <a:blip r:embed="rId4"/>
          <a:stretch/>
        </p:blipFill>
        <p:spPr>
          <a:xfrm>
            <a:off x="7591320" y="4321440"/>
            <a:ext cx="304560" cy="23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29"/>
          <p:cNvSpPr/>
          <p:nvPr/>
        </p:nvSpPr>
        <p:spPr>
          <a:xfrm>
            <a:off x="8010360" y="4305240"/>
            <a:ext cx="228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Visualiser sur Carte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0"/>
          <p:cNvSpPr/>
          <p:nvPr/>
        </p:nvSpPr>
        <p:spPr>
          <a:xfrm>
            <a:off x="7591320" y="4705200"/>
            <a:ext cx="36856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85"/>
              </a:lnSpc>
            </a:pP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Carte interactive </a:t>
            </a: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Leaflet.js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+ OpenStreetMap 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7009920" cy="80928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114480"/>
            <a:ext cx="50288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Architecture Technique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3"/>
          <p:cNvSpPr/>
          <p:nvPr/>
        </p:nvSpPr>
        <p:spPr>
          <a:xfrm>
            <a:off x="457200" y="135252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44b54b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Picture 4" descr="image.png"/>
          <p:cNvPicPr/>
          <p:nvPr/>
        </p:nvPicPr>
        <p:blipFill>
          <a:blip r:embed="rId1"/>
          <a:stretch/>
        </p:blipFill>
        <p:spPr>
          <a:xfrm>
            <a:off x="609480" y="1549080"/>
            <a:ext cx="304560" cy="2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5"/>
          <p:cNvSpPr/>
          <p:nvPr/>
        </p:nvSpPr>
        <p:spPr>
          <a:xfrm>
            <a:off x="1295280" y="1333440"/>
            <a:ext cx="5257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lang="en-US" sz="143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Navigateur Web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1295280" y="1714680"/>
            <a:ext cx="525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index.html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+ </a:t>
            </a:r>
            <a:r>
              <a:rPr lang="en-US" sz="107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map.html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avec Leaflet.js + OSM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7" descr="image.png"/>
          <p:cNvPicPr/>
          <p:nvPr/>
        </p:nvPicPr>
        <p:blipFill>
          <a:blip r:embed="rId2"/>
          <a:stretch/>
        </p:blipFill>
        <p:spPr>
          <a:xfrm>
            <a:off x="3352680" y="2253600"/>
            <a:ext cx="304560" cy="2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Rounded Rectangle 8"/>
          <p:cNvSpPr/>
          <p:nvPr/>
        </p:nvSpPr>
        <p:spPr>
          <a:xfrm>
            <a:off x="457200" y="276228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1399ff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9" descr="image.png"/>
          <p:cNvPicPr/>
          <p:nvPr/>
        </p:nvPicPr>
        <p:blipFill>
          <a:blip r:embed="rId3"/>
          <a:stretch/>
        </p:blipFill>
        <p:spPr>
          <a:xfrm>
            <a:off x="609480" y="2985120"/>
            <a:ext cx="304560" cy="16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10"/>
          <p:cNvSpPr/>
          <p:nvPr/>
        </p:nvSpPr>
        <p:spPr>
          <a:xfrm>
            <a:off x="1295280" y="2743200"/>
            <a:ext cx="5257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lang="en-US" sz="143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Flask (Python)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1"/>
          <p:cNvSpPr/>
          <p:nvPr/>
        </p:nvSpPr>
        <p:spPr>
          <a:xfrm>
            <a:off x="1295280" y="3124080"/>
            <a:ext cx="525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Routes REST + Requêtes Cypher paramétrées via </a:t>
            </a: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Bolt protocol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12" descr="image.png"/>
          <p:cNvPicPr/>
          <p:nvPr/>
        </p:nvPicPr>
        <p:blipFill>
          <a:blip r:embed="rId4"/>
          <a:stretch/>
        </p:blipFill>
        <p:spPr>
          <a:xfrm>
            <a:off x="3352680" y="3663360"/>
            <a:ext cx="304560" cy="21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ounded Rectangle 13"/>
          <p:cNvSpPr/>
          <p:nvPr/>
        </p:nvSpPr>
        <p:spPr>
          <a:xfrm>
            <a:off x="457200" y="4172040"/>
            <a:ext cx="609120" cy="609120"/>
          </a:xfrm>
          <a:prstGeom prst="roundRect">
            <a:avLst>
              <a:gd name="adj" fmla="val 25000"/>
            </a:avLst>
          </a:prstGeom>
          <a:solidFill>
            <a:srgbClr val="44b54b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14" descr="image.png"/>
          <p:cNvPicPr/>
          <p:nvPr/>
        </p:nvPicPr>
        <p:blipFill>
          <a:blip r:embed="rId5"/>
          <a:stretch/>
        </p:blipFill>
        <p:spPr>
          <a:xfrm>
            <a:off x="609480" y="4359600"/>
            <a:ext cx="304560" cy="23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15"/>
          <p:cNvSpPr/>
          <p:nvPr/>
        </p:nvSpPr>
        <p:spPr>
          <a:xfrm>
            <a:off x="1295280" y="4152960"/>
            <a:ext cx="5257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081"/>
              </a:lnSpc>
              <a:spcAft>
                <a:spcPts val="519"/>
              </a:spcAft>
            </a:pPr>
            <a:r>
              <a:rPr lang="en-US" sz="143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Neo4j 5.15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6"/>
          <p:cNvSpPr/>
          <p:nvPr/>
        </p:nvSpPr>
        <p:spPr>
          <a:xfrm>
            <a:off x="1295280" y="4533840"/>
            <a:ext cx="5257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433 nœuds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HealthcareFacility • point.distance()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7"/>
          <p:cNvSpPr/>
          <p:nvPr/>
        </p:nvSpPr>
        <p:spPr>
          <a:xfrm>
            <a:off x="457200" y="5181480"/>
            <a:ext cx="6095520" cy="1142640"/>
          </a:xfrm>
          <a:prstGeom prst="roundRect">
            <a:avLst>
              <a:gd name="adj" fmla="val 20000"/>
            </a:avLst>
          </a:prstGeom>
          <a:solidFill>
            <a:srgbClr val="1399ff">
              <a:alpha val="5000"/>
            </a:srgbClr>
          </a:solidFill>
          <a:ln w="16510">
            <a:solidFill>
              <a:srgbClr val="1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5" name="Picture 18" descr="image.png"/>
          <p:cNvPicPr/>
          <p:nvPr/>
        </p:nvPicPr>
        <p:blipFill>
          <a:blip r:embed="rId6"/>
          <a:stretch/>
        </p:blipFill>
        <p:spPr>
          <a:xfrm>
            <a:off x="781200" y="5464080"/>
            <a:ext cx="228240" cy="1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Box 19"/>
          <p:cNvSpPr/>
          <p:nvPr/>
        </p:nvSpPr>
        <p:spPr>
          <a:xfrm>
            <a:off x="1123920" y="5429160"/>
            <a:ext cx="2171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Stack Technologique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781200" y="5810400"/>
            <a:ext cx="828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●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Flask 3.0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1"/>
          <p:cNvSpPr/>
          <p:nvPr/>
        </p:nvSpPr>
        <p:spPr>
          <a:xfrm>
            <a:off x="1914480" y="5810400"/>
            <a:ext cx="971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●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Neo4j 5.15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2"/>
          <p:cNvSpPr/>
          <p:nvPr/>
        </p:nvSpPr>
        <p:spPr>
          <a:xfrm>
            <a:off x="3190680" y="5810400"/>
            <a:ext cx="1266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●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Leaflet.js 1.9.4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3"/>
          <p:cNvSpPr/>
          <p:nvPr/>
        </p:nvSpPr>
        <p:spPr>
          <a:xfrm>
            <a:off x="4762440" y="5810400"/>
            <a:ext cx="1047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●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Python 3.14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24"/>
          <p:cNvSpPr/>
          <p:nvPr/>
        </p:nvSpPr>
        <p:spPr>
          <a:xfrm>
            <a:off x="7314840" y="571680"/>
            <a:ext cx="4419000" cy="5714640"/>
          </a:xfrm>
          <a:prstGeom prst="roundRect">
            <a:avLst>
              <a:gd name="adj" fmla="val 16667"/>
            </a:avLst>
          </a:prstGeom>
          <a:blipFill rotWithShape="0">
            <a:blip r:embed="rId7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ounded Rectangle 25"/>
          <p:cNvSpPr/>
          <p:nvPr/>
        </p:nvSpPr>
        <p:spPr>
          <a:xfrm>
            <a:off x="7314840" y="5791320"/>
            <a:ext cx="4419000" cy="495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6"/>
          <p:cNvSpPr/>
          <p:nvPr/>
        </p:nvSpPr>
        <p:spPr>
          <a:xfrm>
            <a:off x="7543440" y="5943600"/>
            <a:ext cx="3961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Réseau de données connectées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7314480" cy="80928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457200" y="114480"/>
            <a:ext cx="25142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Les Données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3" descr="image.png"/>
          <p:cNvPicPr/>
          <p:nvPr/>
        </p:nvPicPr>
        <p:blipFill>
          <a:blip r:embed="rId1"/>
          <a:stretch/>
        </p:blipFill>
        <p:spPr>
          <a:xfrm>
            <a:off x="457200" y="1771200"/>
            <a:ext cx="2664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4"/>
          <p:cNvSpPr/>
          <p:nvPr/>
        </p:nvSpPr>
        <p:spPr>
          <a:xfrm>
            <a:off x="838080" y="1733400"/>
            <a:ext cx="4114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Source: OpenStreetMap (Overpass API)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838080" y="2152800"/>
            <a:ext cx="6019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Extraction POI </a:t>
            </a:r>
            <a:r>
              <a:rPr lang="en-US" sz="107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amenity=hospital|clinic|pharmacy</a:t>
            </a:r>
            <a:r>
              <a:rPr lang="en-US" sz="107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• Bounding box: Fès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6" descr="image.png"/>
          <p:cNvPicPr/>
          <p:nvPr/>
        </p:nvPicPr>
        <p:blipFill>
          <a:blip r:embed="rId2"/>
          <a:stretch/>
        </p:blipFill>
        <p:spPr>
          <a:xfrm>
            <a:off x="457200" y="2753280"/>
            <a:ext cx="26640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Box 7"/>
          <p:cNvSpPr/>
          <p:nvPr/>
        </p:nvSpPr>
        <p:spPr>
          <a:xfrm>
            <a:off x="838080" y="2724120"/>
            <a:ext cx="2057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Volume des Données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8"/>
          <p:cNvSpPr/>
          <p:nvPr/>
        </p:nvSpPr>
        <p:spPr>
          <a:xfrm>
            <a:off x="838080" y="3143160"/>
            <a:ext cx="1390320" cy="952200"/>
          </a:xfrm>
          <a:prstGeom prst="roundRect">
            <a:avLst>
              <a:gd name="adj" fmla="val 16000"/>
            </a:avLst>
          </a:prstGeom>
          <a:solidFill>
            <a:srgbClr val="44b54b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9"/>
          <p:cNvSpPr/>
          <p:nvPr/>
        </p:nvSpPr>
        <p:spPr>
          <a:xfrm>
            <a:off x="1028520" y="3295800"/>
            <a:ext cx="100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599"/>
              </a:lnSpc>
              <a:spcAft>
                <a:spcPts val="261"/>
              </a:spcAft>
            </a:pPr>
            <a:r>
              <a:rPr lang="en-US" sz="2150" b="1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17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1028520" y="3714840"/>
            <a:ext cx="1009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Hôpitaux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1"/>
          <p:cNvSpPr/>
          <p:nvPr/>
        </p:nvSpPr>
        <p:spPr>
          <a:xfrm>
            <a:off x="2381040" y="3143160"/>
            <a:ext cx="1390320" cy="952200"/>
          </a:xfrm>
          <a:prstGeom prst="roundRect">
            <a:avLst>
              <a:gd name="adj" fmla="val 16000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2"/>
          <p:cNvSpPr/>
          <p:nvPr/>
        </p:nvSpPr>
        <p:spPr>
          <a:xfrm>
            <a:off x="2571840" y="3295800"/>
            <a:ext cx="100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599"/>
              </a:lnSpc>
              <a:spcAft>
                <a:spcPts val="261"/>
              </a:spcAft>
            </a:pPr>
            <a:r>
              <a:rPr lang="en-US" sz="215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26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3"/>
          <p:cNvSpPr/>
          <p:nvPr/>
        </p:nvSpPr>
        <p:spPr>
          <a:xfrm>
            <a:off x="2571840" y="3714840"/>
            <a:ext cx="1009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Cliniques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4"/>
          <p:cNvSpPr/>
          <p:nvPr/>
        </p:nvSpPr>
        <p:spPr>
          <a:xfrm>
            <a:off x="3924360" y="3143160"/>
            <a:ext cx="1390320" cy="952200"/>
          </a:xfrm>
          <a:prstGeom prst="roundRect">
            <a:avLst>
              <a:gd name="adj" fmla="val 16000"/>
            </a:avLst>
          </a:prstGeom>
          <a:solidFill>
            <a:srgbClr val="44b54b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5"/>
          <p:cNvSpPr/>
          <p:nvPr/>
        </p:nvSpPr>
        <p:spPr>
          <a:xfrm>
            <a:off x="4114800" y="3295800"/>
            <a:ext cx="100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599"/>
              </a:lnSpc>
              <a:spcAft>
                <a:spcPts val="261"/>
              </a:spcAft>
            </a:pPr>
            <a:r>
              <a:rPr lang="en-US" sz="2150" b="1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390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6"/>
          <p:cNvSpPr/>
          <p:nvPr/>
        </p:nvSpPr>
        <p:spPr>
          <a:xfrm>
            <a:off x="4114800" y="3714840"/>
            <a:ext cx="1009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Pharmacies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17"/>
          <p:cNvSpPr/>
          <p:nvPr/>
        </p:nvSpPr>
        <p:spPr>
          <a:xfrm>
            <a:off x="5467320" y="3143160"/>
            <a:ext cx="1390320" cy="952200"/>
          </a:xfrm>
          <a:prstGeom prst="roundRect">
            <a:avLst>
              <a:gd name="adj" fmla="val 16000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18"/>
          <p:cNvSpPr/>
          <p:nvPr/>
        </p:nvSpPr>
        <p:spPr>
          <a:xfrm>
            <a:off x="5657760" y="3295800"/>
            <a:ext cx="100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599"/>
              </a:lnSpc>
              <a:spcAft>
                <a:spcPts val="261"/>
              </a:spcAft>
            </a:pPr>
            <a:r>
              <a:rPr lang="en-US" sz="215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433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9"/>
          <p:cNvSpPr/>
          <p:nvPr/>
        </p:nvSpPr>
        <p:spPr>
          <a:xfrm>
            <a:off x="5657760" y="3714840"/>
            <a:ext cx="1009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</a:pPr>
            <a:r>
              <a:rPr lang="en-US" sz="960" b="1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TOTAL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20" descr="image.png"/>
          <p:cNvPicPr/>
          <p:nvPr/>
        </p:nvPicPr>
        <p:blipFill>
          <a:blip r:embed="rId3"/>
          <a:stretch/>
        </p:blipFill>
        <p:spPr>
          <a:xfrm>
            <a:off x="457200" y="4438080"/>
            <a:ext cx="2664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21"/>
          <p:cNvSpPr/>
          <p:nvPr/>
        </p:nvSpPr>
        <p:spPr>
          <a:xfrm>
            <a:off x="838080" y="440064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Propriétés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2"/>
          <p:cNvSpPr/>
          <p:nvPr/>
        </p:nvSpPr>
        <p:spPr>
          <a:xfrm>
            <a:off x="838080" y="478152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●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osm_id, name, amenity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3"/>
          <p:cNvSpPr/>
          <p:nvPr/>
        </p:nvSpPr>
        <p:spPr>
          <a:xfrm>
            <a:off x="838080" y="508644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lang="en-US" sz="960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●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latitude, longitude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4"/>
          <p:cNvSpPr/>
          <p:nvPr/>
        </p:nvSpPr>
        <p:spPr>
          <a:xfrm>
            <a:off x="838080" y="539100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●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location (Point Neo4j)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5"/>
          <p:cNvSpPr/>
          <p:nvPr/>
        </p:nvSpPr>
        <p:spPr>
          <a:xfrm>
            <a:off x="838080" y="569592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lang="en-US" sz="960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●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street, city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26" descr="image.png"/>
          <p:cNvPicPr/>
          <p:nvPr/>
        </p:nvPicPr>
        <p:blipFill>
          <a:blip r:embed="rId4"/>
          <a:stretch/>
        </p:blipFill>
        <p:spPr>
          <a:xfrm>
            <a:off x="3771720" y="4429440"/>
            <a:ext cx="26640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27"/>
          <p:cNvSpPr/>
          <p:nvPr/>
        </p:nvSpPr>
        <p:spPr>
          <a:xfrm>
            <a:off x="4152960" y="4400640"/>
            <a:ext cx="914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Pipeline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8"/>
          <p:cNvSpPr/>
          <p:nvPr/>
        </p:nvSpPr>
        <p:spPr>
          <a:xfrm>
            <a:off x="4152960" y="478152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CSV brut → </a:t>
            </a: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clean_csv()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9"/>
          <p:cNvSpPr/>
          <p:nvPr/>
        </p:nvSpPr>
        <p:spPr>
          <a:xfrm>
            <a:off x="4152960" y="508644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CSV nettoyé → </a:t>
            </a:r>
            <a:r>
              <a:rPr lang="en-US" sz="96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import_data()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0"/>
          <p:cNvSpPr/>
          <p:nvPr/>
        </p:nvSpPr>
        <p:spPr>
          <a:xfrm>
            <a:off x="4152960" y="5391000"/>
            <a:ext cx="27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Bef>
                <a:spcPts val="519"/>
              </a:spcBef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Import Neo4j (batches 100)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31"/>
          <p:cNvSpPr/>
          <p:nvPr/>
        </p:nvSpPr>
        <p:spPr>
          <a:xfrm>
            <a:off x="7314840" y="571680"/>
            <a:ext cx="4419000" cy="5714640"/>
          </a:xfrm>
          <a:prstGeom prst="roundRect">
            <a:avLst>
              <a:gd name="adj" fmla="val 16667"/>
            </a:avLst>
          </a:prstGeom>
          <a:blipFill rotWithShape="0">
            <a:blip r:embed="rId5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ounded Rectangle 32"/>
          <p:cNvSpPr/>
          <p:nvPr/>
        </p:nvSpPr>
        <p:spPr>
          <a:xfrm>
            <a:off x="7314840" y="5791320"/>
            <a:ext cx="4419000" cy="495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33"/>
          <p:cNvSpPr/>
          <p:nvPr/>
        </p:nvSpPr>
        <p:spPr>
          <a:xfrm>
            <a:off x="7543440" y="5943600"/>
            <a:ext cx="3961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Interface de visualisation des données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7314480" cy="114264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457200" y="0"/>
            <a:ext cx="6400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Modèle Neo4j &amp; Requêtes Cypher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3" descr="image.png"/>
          <p:cNvPicPr/>
          <p:nvPr/>
        </p:nvPicPr>
        <p:blipFill>
          <a:blip r:embed="rId1"/>
          <a:stretch/>
        </p:blipFill>
        <p:spPr>
          <a:xfrm>
            <a:off x="457200" y="1657800"/>
            <a:ext cx="26640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4"/>
          <p:cNvSpPr/>
          <p:nvPr/>
        </p:nvSpPr>
        <p:spPr>
          <a:xfrm>
            <a:off x="838080" y="1628640"/>
            <a:ext cx="2628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Nœud HealthcareFacility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5"/>
          <p:cNvSpPr/>
          <p:nvPr/>
        </p:nvSpPr>
        <p:spPr>
          <a:xfrm>
            <a:off x="838080" y="2048040"/>
            <a:ext cx="1418760" cy="837720"/>
          </a:xfrm>
          <a:prstGeom prst="roundRect">
            <a:avLst>
              <a:gd name="adj" fmla="val 18181"/>
            </a:avLst>
          </a:prstGeom>
          <a:solidFill>
            <a:srgbClr val="44b54b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990720" y="2124000"/>
            <a:ext cx="1114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Aft>
                <a:spcPts val="261"/>
              </a:spcAft>
            </a:pPr>
            <a:r>
              <a:rPr lang="en-US" sz="839" b="1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osm_id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990720" y="2352600"/>
            <a:ext cx="111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"4822797821"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8"/>
          <p:cNvSpPr/>
          <p:nvPr/>
        </p:nvSpPr>
        <p:spPr>
          <a:xfrm>
            <a:off x="2371680" y="2048040"/>
            <a:ext cx="1418760" cy="837720"/>
          </a:xfrm>
          <a:prstGeom prst="roundRect">
            <a:avLst>
              <a:gd name="adj" fmla="val 1818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2523960" y="2124000"/>
            <a:ext cx="1114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Aft>
                <a:spcPts val="261"/>
              </a:spcAft>
            </a:pPr>
            <a:r>
              <a:rPr lang="en-US" sz="839" b="1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name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0"/>
          <p:cNvSpPr/>
          <p:nvPr/>
        </p:nvSpPr>
        <p:spPr>
          <a:xfrm>
            <a:off x="2523960" y="2352600"/>
            <a:ext cx="111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"Pharmacie Amine"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11"/>
          <p:cNvSpPr/>
          <p:nvPr/>
        </p:nvSpPr>
        <p:spPr>
          <a:xfrm>
            <a:off x="3905280" y="2048040"/>
            <a:ext cx="1418760" cy="837720"/>
          </a:xfrm>
          <a:prstGeom prst="roundRect">
            <a:avLst>
              <a:gd name="adj" fmla="val 18181"/>
            </a:avLst>
          </a:prstGeom>
          <a:solidFill>
            <a:srgbClr val="44b54b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4057560" y="2124000"/>
            <a:ext cx="1114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Aft>
                <a:spcPts val="261"/>
              </a:spcAft>
            </a:pPr>
            <a:r>
              <a:rPr lang="en-US" sz="839" b="1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amenity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3"/>
          <p:cNvSpPr/>
          <p:nvPr/>
        </p:nvSpPr>
        <p:spPr>
          <a:xfrm>
            <a:off x="4057560" y="2352600"/>
            <a:ext cx="111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"pharmacy"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4"/>
          <p:cNvSpPr/>
          <p:nvPr/>
        </p:nvSpPr>
        <p:spPr>
          <a:xfrm>
            <a:off x="5438520" y="2048040"/>
            <a:ext cx="1418760" cy="837720"/>
          </a:xfrm>
          <a:prstGeom prst="roundRect">
            <a:avLst>
              <a:gd name="adj" fmla="val 1818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5"/>
          <p:cNvSpPr/>
          <p:nvPr/>
        </p:nvSpPr>
        <p:spPr>
          <a:xfrm>
            <a:off x="5591160" y="2124000"/>
            <a:ext cx="1114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  <a:spcAft>
                <a:spcPts val="261"/>
              </a:spcAft>
            </a:pPr>
            <a:r>
              <a:rPr lang="en-US" sz="839" b="1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location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6"/>
          <p:cNvSpPr/>
          <p:nvPr/>
        </p:nvSpPr>
        <p:spPr>
          <a:xfrm>
            <a:off x="5591160" y="2352600"/>
            <a:ext cx="111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point()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17" descr="image.png"/>
          <p:cNvPicPr/>
          <p:nvPr/>
        </p:nvPicPr>
        <p:blipFill>
          <a:blip r:embed="rId2"/>
          <a:stretch/>
        </p:blipFill>
        <p:spPr>
          <a:xfrm>
            <a:off x="457200" y="3175560"/>
            <a:ext cx="266400" cy="1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18"/>
          <p:cNvSpPr/>
          <p:nvPr/>
        </p:nvSpPr>
        <p:spPr>
          <a:xfrm>
            <a:off x="838080" y="3114720"/>
            <a:ext cx="4228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Requête Clé — Recherche par Proximité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9"/>
          <p:cNvSpPr/>
          <p:nvPr/>
        </p:nvSpPr>
        <p:spPr>
          <a:xfrm>
            <a:off x="838080" y="3495600"/>
            <a:ext cx="6019200" cy="1428480"/>
          </a:xfrm>
          <a:prstGeom prst="roundRect">
            <a:avLst>
              <a:gd name="adj" fmla="val 10666"/>
            </a:avLst>
          </a:prstGeom>
          <a:solidFill>
            <a:srgbClr val="1399ff">
              <a:alpha val="3000"/>
            </a:srgbClr>
          </a:solidFill>
          <a:ln w="16510">
            <a:solidFill>
              <a:srgbClr val="1399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800" b="0" u="none" strike="noStrike">
                <a:solidFill>
                  <a:schemeClr val="lt1"/>
                </a:solidFill>
                <a:effectLst/>
                <a:highlight>
                  <a:srgbClr val="000000"/>
                </a:highlight>
                <a:uFillTx/>
                <a:latin typeface="Calibri"/>
              </a:rPr>
              <a:t>MATCH (h:HealthcareFacility)WITH h,point.distance( h.location, point({latitude: $lat, longitude: $lon})) AS distWHERE dist &lt;= $radius_mRETURN h.name AS name, h.amenity AS type, h.latitude AS latitude, h.longitude AS longitude, dist AS distanceORDER BY dist ASC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20"/>
          <p:cNvSpPr/>
          <p:nvPr/>
        </p:nvSpPr>
        <p:spPr>
          <a:xfrm>
            <a:off x="457200" y="5114880"/>
            <a:ext cx="3104640" cy="1257120"/>
          </a:xfrm>
          <a:prstGeom prst="roundRect">
            <a:avLst>
              <a:gd name="adj" fmla="val 18181"/>
            </a:avLst>
          </a:prstGeom>
          <a:solidFill>
            <a:srgbClr val="44b54b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ound Same Side Corner Rectangle 21"/>
          <p:cNvSpPr/>
          <p:nvPr/>
        </p:nvSpPr>
        <p:spPr>
          <a:xfrm rot="16200000">
            <a:off x="-105120" y="5677920"/>
            <a:ext cx="1257120" cy="1317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8" name="Picture 22" descr="image.png"/>
          <p:cNvPicPr/>
          <p:nvPr/>
        </p:nvPicPr>
        <p:blipFill>
          <a:blip r:embed="rId3"/>
          <a:stretch/>
        </p:blipFill>
        <p:spPr>
          <a:xfrm>
            <a:off x="685800" y="5303520"/>
            <a:ext cx="22824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Box 23"/>
          <p:cNvSpPr/>
          <p:nvPr/>
        </p:nvSpPr>
        <p:spPr>
          <a:xfrm>
            <a:off x="990720" y="5267160"/>
            <a:ext cx="113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Place R'cif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4"/>
          <p:cNvSpPr/>
          <p:nvPr/>
        </p:nvSpPr>
        <p:spPr>
          <a:xfrm>
            <a:off x="685800" y="5610240"/>
            <a:ext cx="2685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519"/>
              </a:spcAft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Rayon: </a:t>
            </a:r>
            <a:r>
              <a:rPr lang="en-US" sz="120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1 km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5"/>
          <p:cNvSpPr/>
          <p:nvPr/>
        </p:nvSpPr>
        <p:spPr>
          <a:xfrm>
            <a:off x="685800" y="5952960"/>
            <a:ext cx="2685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120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15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établissements trouvés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26"/>
          <p:cNvSpPr/>
          <p:nvPr/>
        </p:nvSpPr>
        <p:spPr>
          <a:xfrm>
            <a:off x="3752640" y="5114880"/>
            <a:ext cx="3104640" cy="1257120"/>
          </a:xfrm>
          <a:prstGeom prst="roundRect">
            <a:avLst>
              <a:gd name="adj" fmla="val 1818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 Same Side Corner Rectangle 27"/>
          <p:cNvSpPr/>
          <p:nvPr/>
        </p:nvSpPr>
        <p:spPr>
          <a:xfrm rot="16200000">
            <a:off x="3189960" y="5677920"/>
            <a:ext cx="1257120" cy="1317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4" name="Picture 28" descr="image.png"/>
          <p:cNvPicPr/>
          <p:nvPr/>
        </p:nvPicPr>
        <p:blipFill>
          <a:blip r:embed="rId4"/>
          <a:stretch/>
        </p:blipFill>
        <p:spPr>
          <a:xfrm>
            <a:off x="3981240" y="5307840"/>
            <a:ext cx="22824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Box 29"/>
          <p:cNvSpPr/>
          <p:nvPr/>
        </p:nvSpPr>
        <p:spPr>
          <a:xfrm>
            <a:off x="4286160" y="5267160"/>
            <a:ext cx="113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Plus Proche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0"/>
          <p:cNvSpPr/>
          <p:nvPr/>
        </p:nvSpPr>
        <p:spPr>
          <a:xfrm>
            <a:off x="3981240" y="5610240"/>
            <a:ext cx="2685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261"/>
              </a:spcAft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Pharmacie Al Mamalik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1"/>
          <p:cNvSpPr/>
          <p:nvPr/>
        </p:nvSpPr>
        <p:spPr>
          <a:xfrm>
            <a:off x="3981240" y="5877000"/>
            <a:ext cx="2685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406 mètres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32"/>
          <p:cNvSpPr/>
          <p:nvPr/>
        </p:nvSpPr>
        <p:spPr>
          <a:xfrm>
            <a:off x="7314840" y="571680"/>
            <a:ext cx="4419000" cy="5714640"/>
          </a:xfrm>
          <a:prstGeom prst="roundRect">
            <a:avLst>
              <a:gd name="adj" fmla="val 16667"/>
            </a:avLst>
          </a:prstGeom>
          <a:blipFill rotWithShape="0">
            <a:blip r:embed="rId5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ounded Rectangle 33"/>
          <p:cNvSpPr/>
          <p:nvPr/>
        </p:nvSpPr>
        <p:spPr>
          <a:xfrm>
            <a:off x="7314840" y="5791320"/>
            <a:ext cx="4419000" cy="495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34"/>
          <p:cNvSpPr/>
          <p:nvPr/>
        </p:nvSpPr>
        <p:spPr>
          <a:xfrm>
            <a:off x="7543440" y="5943600"/>
            <a:ext cx="3961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Modèle de graphe Neo4j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3885840" cy="80928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457200" y="114480"/>
            <a:ext cx="29714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Démonstration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3"/>
          <p:cNvSpPr/>
          <p:nvPr/>
        </p:nvSpPr>
        <p:spPr>
          <a:xfrm>
            <a:off x="4343400" y="857160"/>
            <a:ext cx="609120" cy="609120"/>
          </a:xfrm>
          <a:prstGeom prst="roundRect">
            <a:avLst>
              <a:gd name="adj" fmla="val 31246875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4"/>
          <p:cNvSpPr/>
          <p:nvPr/>
        </p:nvSpPr>
        <p:spPr>
          <a:xfrm>
            <a:off x="4476600" y="990720"/>
            <a:ext cx="342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lang="en-US" sz="1790" b="1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01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5"/>
          <p:cNvSpPr/>
          <p:nvPr/>
        </p:nvSpPr>
        <p:spPr>
          <a:xfrm>
            <a:off x="5143320" y="857160"/>
            <a:ext cx="274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Page d'accueil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6"/>
          <p:cNvSpPr/>
          <p:nvPr/>
        </p:nvSpPr>
        <p:spPr>
          <a:xfrm>
            <a:off x="5143320" y="12002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519"/>
              </a:spcAft>
            </a:pP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Statistiques: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17 hôpitaux • 26 cliniques • 390 pharmacies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7"/>
          <p:cNvSpPr/>
          <p:nvPr/>
        </p:nvSpPr>
        <p:spPr>
          <a:xfrm>
            <a:off x="5143320" y="1733400"/>
            <a:ext cx="1466280" cy="266400"/>
          </a:xfrm>
          <a:prstGeom prst="roundRect">
            <a:avLst>
              <a:gd name="adj" fmla="val 2857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8"/>
          <p:cNvSpPr/>
          <p:nvPr/>
        </p:nvSpPr>
        <p:spPr>
          <a:xfrm>
            <a:off x="5143320" y="1733400"/>
            <a:ext cx="1466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http://127.0.0.1:5000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9"/>
          <p:cNvSpPr/>
          <p:nvPr/>
        </p:nvSpPr>
        <p:spPr>
          <a:xfrm>
            <a:off x="4343400" y="2190600"/>
            <a:ext cx="609120" cy="609120"/>
          </a:xfrm>
          <a:prstGeom prst="roundRect">
            <a:avLst>
              <a:gd name="adj" fmla="val 31246875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0"/>
          <p:cNvSpPr/>
          <p:nvPr/>
        </p:nvSpPr>
        <p:spPr>
          <a:xfrm>
            <a:off x="4476600" y="2324160"/>
            <a:ext cx="342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lang="en-US" sz="179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02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1"/>
          <p:cNvSpPr/>
          <p:nvPr/>
        </p:nvSpPr>
        <p:spPr>
          <a:xfrm>
            <a:off x="5143320" y="2190600"/>
            <a:ext cx="274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Carte interactive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2"/>
          <p:cNvSpPr/>
          <p:nvPr/>
        </p:nvSpPr>
        <p:spPr>
          <a:xfrm>
            <a:off x="5143320" y="25336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519"/>
              </a:spcAft>
            </a:pP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433 marqueurs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• Place R'cif (1 km) = </a:t>
            </a: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15 résultats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13"/>
          <p:cNvSpPr/>
          <p:nvPr/>
        </p:nvSpPr>
        <p:spPr>
          <a:xfrm>
            <a:off x="5143320" y="3067200"/>
            <a:ext cx="1761840" cy="266400"/>
          </a:xfrm>
          <a:prstGeom prst="roundRect">
            <a:avLst>
              <a:gd name="adj" fmla="val 2857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4"/>
          <p:cNvSpPr/>
          <p:nvPr/>
        </p:nvSpPr>
        <p:spPr>
          <a:xfrm>
            <a:off x="5143320" y="3067200"/>
            <a:ext cx="1761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http://127.0.0.1:5000/map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15"/>
          <p:cNvSpPr/>
          <p:nvPr/>
        </p:nvSpPr>
        <p:spPr>
          <a:xfrm>
            <a:off x="4343400" y="3524400"/>
            <a:ext cx="609120" cy="609120"/>
          </a:xfrm>
          <a:prstGeom prst="roundRect">
            <a:avLst>
              <a:gd name="adj" fmla="val 31246875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16"/>
          <p:cNvSpPr/>
          <p:nvPr/>
        </p:nvSpPr>
        <p:spPr>
          <a:xfrm>
            <a:off x="4476600" y="3657600"/>
            <a:ext cx="342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lang="en-US" sz="1790" b="1" u="none" strike="noStrike">
                <a:solidFill>
                  <a:srgbClr val="44b54b"/>
                </a:solidFill>
                <a:effectLst/>
                <a:uFillTx/>
                <a:latin typeface="Source Code Pro"/>
              </a:rPr>
              <a:t>03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7"/>
          <p:cNvSpPr/>
          <p:nvPr/>
        </p:nvSpPr>
        <p:spPr>
          <a:xfrm>
            <a:off x="5143320" y="3524400"/>
            <a:ext cx="274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API JSON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8"/>
          <p:cNvSpPr/>
          <p:nvPr/>
        </p:nvSpPr>
        <p:spPr>
          <a:xfrm>
            <a:off x="5143320" y="38671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519"/>
              </a:spcAft>
            </a:pP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Structure JSON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avec coordonnées latitude/longitude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19"/>
          <p:cNvSpPr/>
          <p:nvPr/>
        </p:nvSpPr>
        <p:spPr>
          <a:xfrm>
            <a:off x="5143320" y="4400640"/>
            <a:ext cx="1847520" cy="266400"/>
          </a:xfrm>
          <a:prstGeom prst="roundRect">
            <a:avLst>
              <a:gd name="adj" fmla="val 2857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20"/>
          <p:cNvSpPr/>
          <p:nvPr/>
        </p:nvSpPr>
        <p:spPr>
          <a:xfrm>
            <a:off x="5143320" y="4400640"/>
            <a:ext cx="1847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http://127.0.0.1:5000/api/all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21"/>
          <p:cNvSpPr/>
          <p:nvPr/>
        </p:nvSpPr>
        <p:spPr>
          <a:xfrm>
            <a:off x="4343400" y="4857840"/>
            <a:ext cx="609120" cy="609120"/>
          </a:xfrm>
          <a:prstGeom prst="roundRect">
            <a:avLst>
              <a:gd name="adj" fmla="val 31246875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2"/>
          <p:cNvSpPr/>
          <p:nvPr/>
        </p:nvSpPr>
        <p:spPr>
          <a:xfrm>
            <a:off x="4476600" y="4991040"/>
            <a:ext cx="342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2341"/>
              </a:lnSpc>
            </a:pPr>
            <a:r>
              <a:rPr lang="en-US" sz="179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04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3"/>
          <p:cNvSpPr/>
          <p:nvPr/>
        </p:nvSpPr>
        <p:spPr>
          <a:xfrm>
            <a:off x="5143320" y="4857840"/>
            <a:ext cx="274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Test connexion Neo4j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24"/>
          <p:cNvSpPr/>
          <p:nvPr/>
        </p:nvSpPr>
        <p:spPr>
          <a:xfrm>
            <a:off x="5143320" y="52005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  <a:spcAft>
                <a:spcPts val="519"/>
              </a:spcAft>
            </a:pP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Vérifier que la connexion </a:t>
            </a: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Neo4j</a:t>
            </a:r>
            <a:r>
              <a:rPr lang="en-US" sz="960" b="0" u="none" strike="noStrike">
                <a:solidFill>
                  <a:srgbClr val="555555"/>
                </a:solidFill>
                <a:effectLst/>
                <a:uFillTx/>
                <a:latin typeface="Roboto Flex"/>
              </a:rPr>
              <a:t> fonctionne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25"/>
          <p:cNvSpPr/>
          <p:nvPr/>
        </p:nvSpPr>
        <p:spPr>
          <a:xfrm>
            <a:off x="5143320" y="5734080"/>
            <a:ext cx="2437920" cy="266400"/>
          </a:xfrm>
          <a:prstGeom prst="roundRect">
            <a:avLst>
              <a:gd name="adj" fmla="val 28571"/>
            </a:avLst>
          </a:prstGeom>
          <a:solidFill>
            <a:srgbClr val="1399ff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6"/>
          <p:cNvSpPr/>
          <p:nvPr/>
        </p:nvSpPr>
        <p:spPr>
          <a:xfrm>
            <a:off x="5143320" y="5734080"/>
            <a:ext cx="2437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http://127.0.0.1:5000/test-connection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27"/>
          <p:cNvSpPr/>
          <p:nvPr/>
        </p:nvSpPr>
        <p:spPr>
          <a:xfrm>
            <a:off x="8219880" y="723960"/>
            <a:ext cx="3485880" cy="837720"/>
          </a:xfrm>
          <a:prstGeom prst="rect">
            <a:avLst/>
          </a:prstGeom>
          <a:solidFill>
            <a:srgbClr val="1399ff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8" name="Picture 28" descr="image.png"/>
          <p:cNvPicPr/>
          <p:nvPr/>
        </p:nvPicPr>
        <p:blipFill>
          <a:blip r:embed="rId1"/>
          <a:stretch/>
        </p:blipFill>
        <p:spPr>
          <a:xfrm>
            <a:off x="8448480" y="1060200"/>
            <a:ext cx="228240" cy="16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Box 29"/>
          <p:cNvSpPr/>
          <p:nvPr/>
        </p:nvSpPr>
        <p:spPr>
          <a:xfrm>
            <a:off x="8753400" y="876240"/>
            <a:ext cx="2723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</a:pPr>
            <a:r>
              <a:rPr lang="en-US" sz="120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Interface Web Hospital Finder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30"/>
          <p:cNvSpPr/>
          <p:nvPr/>
        </p:nvSpPr>
        <p:spPr>
          <a:xfrm>
            <a:off x="8219880" y="1562040"/>
            <a:ext cx="3485880" cy="457164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91400" cy="80928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457200" y="114480"/>
            <a:ext cx="52574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Difficultés Rencontrées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3"/>
          <p:cNvSpPr/>
          <p:nvPr/>
        </p:nvSpPr>
        <p:spPr>
          <a:xfrm>
            <a:off x="457200" y="1695600"/>
            <a:ext cx="11277000" cy="952200"/>
          </a:xfrm>
          <a:prstGeom prst="roundRect">
            <a:avLst>
              <a:gd name="adj" fmla="val 24000"/>
            </a:avLst>
          </a:prstGeom>
          <a:solidFill>
            <a:srgbClr val="44b54b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ound Same Side Corner Rectangle 4"/>
          <p:cNvSpPr/>
          <p:nvPr/>
        </p:nvSpPr>
        <p:spPr>
          <a:xfrm rot="16200000">
            <a:off x="63360" y="2089080"/>
            <a:ext cx="95220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Rounded Rectangle 5"/>
          <p:cNvSpPr/>
          <p:nvPr/>
        </p:nvSpPr>
        <p:spPr>
          <a:xfrm>
            <a:off x="809640" y="1943280"/>
            <a:ext cx="456840" cy="456840"/>
          </a:xfrm>
          <a:prstGeom prst="roundRect">
            <a:avLst>
              <a:gd name="adj" fmla="val 41662500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6" name="Picture 6" descr="image.png"/>
          <p:cNvPicPr/>
          <p:nvPr/>
        </p:nvPicPr>
        <p:blipFill>
          <a:blip r:embed="rId1"/>
          <a:stretch/>
        </p:blipFill>
        <p:spPr>
          <a:xfrm>
            <a:off x="904680" y="2058480"/>
            <a:ext cx="26640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Box 7"/>
          <p:cNvSpPr/>
          <p:nvPr/>
        </p:nvSpPr>
        <p:spPr>
          <a:xfrm>
            <a:off x="1495440" y="1886040"/>
            <a:ext cx="9933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333333"/>
                </a:solidFill>
                <a:effectLst/>
                <a:uFillTx/>
                <a:latin typeface="Source Code Pro"/>
              </a:rPr>
              <a:t>Colonnes CSV avec backticks (`@lat`, `@lon`)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1495440" y="2228760"/>
            <a:ext cx="993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Solution: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Fonction </a:t>
            </a: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clean_col_name()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pour strip les backticks avant mapping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9"/>
          <p:cNvSpPr/>
          <p:nvPr/>
        </p:nvSpPr>
        <p:spPr>
          <a:xfrm>
            <a:off x="457200" y="2800440"/>
            <a:ext cx="11277000" cy="952200"/>
          </a:xfrm>
          <a:prstGeom prst="roundRect">
            <a:avLst>
              <a:gd name="adj" fmla="val 24000"/>
            </a:avLst>
          </a:prstGeom>
          <a:solidFill>
            <a:srgbClr val="1399ff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ound Same Side Corner Rectangle 10"/>
          <p:cNvSpPr/>
          <p:nvPr/>
        </p:nvSpPr>
        <p:spPr>
          <a:xfrm rot="16200000">
            <a:off x="63360" y="3194280"/>
            <a:ext cx="95220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ounded Rectangle 11"/>
          <p:cNvSpPr/>
          <p:nvPr/>
        </p:nvSpPr>
        <p:spPr>
          <a:xfrm>
            <a:off x="809640" y="3048120"/>
            <a:ext cx="456840" cy="456840"/>
          </a:xfrm>
          <a:prstGeom prst="roundRect">
            <a:avLst>
              <a:gd name="adj" fmla="val 41662500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2" name="Picture 12" descr="image.png"/>
          <p:cNvPicPr/>
          <p:nvPr/>
        </p:nvPicPr>
        <p:blipFill>
          <a:blip r:embed="rId2"/>
          <a:stretch/>
        </p:blipFill>
        <p:spPr>
          <a:xfrm>
            <a:off x="904680" y="3156120"/>
            <a:ext cx="266400" cy="2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Box 13"/>
          <p:cNvSpPr/>
          <p:nvPr/>
        </p:nvSpPr>
        <p:spPr>
          <a:xfrm>
            <a:off x="1495440" y="2990880"/>
            <a:ext cx="9933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333333"/>
                </a:solidFill>
                <a:effectLst/>
                <a:uFillTx/>
                <a:latin typeface="Source Code Pro"/>
              </a:rPr>
              <a:t>Plugin Neo4j Spatial non disponible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1495440" y="3333600"/>
            <a:ext cx="993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Solution: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Utilisation de </a:t>
            </a: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point.distance()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natif (fonctionne sans plugin)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5"/>
          <p:cNvSpPr/>
          <p:nvPr/>
        </p:nvSpPr>
        <p:spPr>
          <a:xfrm>
            <a:off x="457200" y="3905280"/>
            <a:ext cx="11277000" cy="952200"/>
          </a:xfrm>
          <a:prstGeom prst="roundRect">
            <a:avLst>
              <a:gd name="adj" fmla="val 24000"/>
            </a:avLst>
          </a:prstGeom>
          <a:solidFill>
            <a:srgbClr val="44b54b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Round Same Side Corner Rectangle 16"/>
          <p:cNvSpPr/>
          <p:nvPr/>
        </p:nvSpPr>
        <p:spPr>
          <a:xfrm rot="16200000">
            <a:off x="63360" y="4299120"/>
            <a:ext cx="95220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4b5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ounded Rectangle 17"/>
          <p:cNvSpPr/>
          <p:nvPr/>
        </p:nvSpPr>
        <p:spPr>
          <a:xfrm>
            <a:off x="809640" y="4152960"/>
            <a:ext cx="456840" cy="456840"/>
          </a:xfrm>
          <a:prstGeom prst="roundRect">
            <a:avLst>
              <a:gd name="adj" fmla="val 41662500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8" name="Picture 18" descr="image.png"/>
          <p:cNvPicPr/>
          <p:nvPr/>
        </p:nvPicPr>
        <p:blipFill>
          <a:blip r:embed="rId3"/>
          <a:stretch/>
        </p:blipFill>
        <p:spPr>
          <a:xfrm>
            <a:off x="904680" y="4261320"/>
            <a:ext cx="266400" cy="2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Box 19"/>
          <p:cNvSpPr/>
          <p:nvPr/>
        </p:nvSpPr>
        <p:spPr>
          <a:xfrm>
            <a:off x="1495440" y="4095720"/>
            <a:ext cx="9933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333333"/>
                </a:solidFill>
                <a:effectLst/>
                <a:uFillTx/>
                <a:latin typeface="Source Code Pro"/>
              </a:rPr>
              <a:t>LOAD CSV nécessite le dossier import/ de Neo4j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0"/>
          <p:cNvSpPr/>
          <p:nvPr/>
        </p:nvSpPr>
        <p:spPr>
          <a:xfrm>
            <a:off x="1495440" y="4438800"/>
            <a:ext cx="993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Solution: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Import via Python + Cypher </a:t>
            </a:r>
            <a:r>
              <a:rPr lang="en-US" sz="960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UNWIND $batch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(batches de 100)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21"/>
          <p:cNvSpPr/>
          <p:nvPr/>
        </p:nvSpPr>
        <p:spPr>
          <a:xfrm>
            <a:off x="457200" y="5010120"/>
            <a:ext cx="11277000" cy="952200"/>
          </a:xfrm>
          <a:prstGeom prst="roundRect">
            <a:avLst>
              <a:gd name="adj" fmla="val 24000"/>
            </a:avLst>
          </a:prstGeom>
          <a:solidFill>
            <a:srgbClr val="1399ff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ound Same Side Corner Rectangle 22"/>
          <p:cNvSpPr/>
          <p:nvPr/>
        </p:nvSpPr>
        <p:spPr>
          <a:xfrm rot="16200000">
            <a:off x="63360" y="5403960"/>
            <a:ext cx="952200" cy="164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399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ounded Rectangle 23"/>
          <p:cNvSpPr/>
          <p:nvPr/>
        </p:nvSpPr>
        <p:spPr>
          <a:xfrm>
            <a:off x="809640" y="5257800"/>
            <a:ext cx="456840" cy="456840"/>
          </a:xfrm>
          <a:prstGeom prst="roundRect">
            <a:avLst>
              <a:gd name="adj" fmla="val 41662500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4" name="Picture 24" descr="image.png"/>
          <p:cNvPicPr/>
          <p:nvPr/>
        </p:nvPicPr>
        <p:blipFill>
          <a:blip r:embed="rId4"/>
          <a:stretch/>
        </p:blipFill>
        <p:spPr>
          <a:xfrm>
            <a:off x="904680" y="5373360"/>
            <a:ext cx="26640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Box 25"/>
          <p:cNvSpPr/>
          <p:nvPr/>
        </p:nvSpPr>
        <p:spPr>
          <a:xfrm>
            <a:off x="1495440" y="5200560"/>
            <a:ext cx="9933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333333"/>
                </a:solidFill>
                <a:effectLst/>
                <a:uFillTx/>
                <a:latin typeface="Source Code Pro"/>
              </a:rPr>
              <a:t>Incohérence des propriétés entre CSV et templates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6"/>
          <p:cNvSpPr/>
          <p:nvPr/>
        </p:nvSpPr>
        <p:spPr>
          <a:xfrm>
            <a:off x="1495440" y="5543640"/>
            <a:ext cx="993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1" u="none" strike="noStrike">
                <a:solidFill>
                  <a:srgbClr val="1399ff"/>
                </a:solidFill>
                <a:effectLst/>
                <a:uFillTx/>
                <a:latin typeface="Roboto Flex"/>
              </a:rPr>
              <a:t>Solution: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Templates HTML robustes avec gestion des valeurs manquantes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7314480" cy="809280"/>
          </a:xfrm>
          <a:prstGeom prst="rect">
            <a:avLst/>
          </a:prstGeom>
          <a:gradFill rotWithShape="0">
            <a:gsLst>
              <a:gs pos="0">
                <a:srgbClr val="44b54b"/>
              </a:gs>
              <a:gs pos="100000">
                <a:srgbClr val="1399ff"/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457200" y="114480"/>
            <a:ext cx="52574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3900"/>
              </a:lnSpc>
            </a:pPr>
            <a:r>
              <a:rPr lang="en-US" sz="23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Améliorations Possibles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3"/>
          <p:cNvSpPr/>
          <p:nvPr/>
        </p:nvSpPr>
        <p:spPr>
          <a:xfrm>
            <a:off x="457200" y="1733400"/>
            <a:ext cx="3123720" cy="1371240"/>
          </a:xfrm>
          <a:prstGeom prst="roundRect">
            <a:avLst>
              <a:gd name="adj" fmla="val 16666"/>
            </a:avLst>
          </a:prstGeom>
          <a:solidFill>
            <a:srgbClr val="44b54b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Rounded Rectangle 4"/>
          <p:cNvSpPr/>
          <p:nvPr/>
        </p:nvSpPr>
        <p:spPr>
          <a:xfrm>
            <a:off x="647640" y="1886040"/>
            <a:ext cx="456840" cy="456840"/>
          </a:xfrm>
          <a:prstGeom prst="roundRect">
            <a:avLst>
              <a:gd name="adj" fmla="val 33333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1" name="Picture 5" descr="image.png"/>
          <p:cNvPicPr/>
          <p:nvPr/>
        </p:nvPicPr>
        <p:blipFill>
          <a:blip r:embed="rId1"/>
          <a:stretch/>
        </p:blipFill>
        <p:spPr>
          <a:xfrm>
            <a:off x="743040" y="1989720"/>
            <a:ext cx="26640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Box 6"/>
          <p:cNvSpPr/>
          <p:nvPr/>
        </p:nvSpPr>
        <p:spPr>
          <a:xfrm>
            <a:off x="1257120" y="1886040"/>
            <a:ext cx="2133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Géolocalisation Navigateur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1257120" y="249552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Détection automatique de la position via </a:t>
            </a: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GPS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8"/>
          <p:cNvSpPr/>
          <p:nvPr/>
        </p:nvSpPr>
        <p:spPr>
          <a:xfrm>
            <a:off x="3733560" y="1733400"/>
            <a:ext cx="3123720" cy="1371240"/>
          </a:xfrm>
          <a:prstGeom prst="roundRect">
            <a:avLst>
              <a:gd name="adj" fmla="val 16666"/>
            </a:avLst>
          </a:prstGeom>
          <a:solidFill>
            <a:srgbClr val="1399ff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ounded Rectangle 9"/>
          <p:cNvSpPr/>
          <p:nvPr/>
        </p:nvSpPr>
        <p:spPr>
          <a:xfrm>
            <a:off x="3924360" y="1886040"/>
            <a:ext cx="456840" cy="456840"/>
          </a:xfrm>
          <a:prstGeom prst="roundRect">
            <a:avLst>
              <a:gd name="adj" fmla="val 33333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6" name="Picture 10" descr="image.png"/>
          <p:cNvPicPr/>
          <p:nvPr/>
        </p:nvPicPr>
        <p:blipFill>
          <a:blip r:embed="rId2"/>
          <a:stretch/>
        </p:blipFill>
        <p:spPr>
          <a:xfrm>
            <a:off x="4019400" y="1985400"/>
            <a:ext cx="266400" cy="25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Box 11"/>
          <p:cNvSpPr/>
          <p:nvPr/>
        </p:nvSpPr>
        <p:spPr>
          <a:xfrm>
            <a:off x="4533840" y="188604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Plugin Neo4j Spatial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2"/>
          <p:cNvSpPr/>
          <p:nvPr/>
        </p:nvSpPr>
        <p:spPr>
          <a:xfrm>
            <a:off x="4533840" y="222876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Requêtes avancées: </a:t>
            </a:r>
            <a:r>
              <a:rPr lang="en-US" sz="839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spatial.withinDistance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13"/>
          <p:cNvSpPr/>
          <p:nvPr/>
        </p:nvSpPr>
        <p:spPr>
          <a:xfrm>
            <a:off x="457200" y="3257640"/>
            <a:ext cx="3123720" cy="1371240"/>
          </a:xfrm>
          <a:prstGeom prst="roundRect">
            <a:avLst>
              <a:gd name="adj" fmla="val 16666"/>
            </a:avLst>
          </a:prstGeom>
          <a:solidFill>
            <a:srgbClr val="1399ff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Rounded Rectangle 14"/>
          <p:cNvSpPr/>
          <p:nvPr/>
        </p:nvSpPr>
        <p:spPr>
          <a:xfrm>
            <a:off x="647640" y="3409920"/>
            <a:ext cx="456840" cy="456840"/>
          </a:xfrm>
          <a:prstGeom prst="roundRect">
            <a:avLst>
              <a:gd name="adj" fmla="val 33333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1" name="Picture 15" descr="image.png"/>
          <p:cNvPicPr/>
          <p:nvPr/>
        </p:nvPicPr>
        <p:blipFill>
          <a:blip r:embed="rId3"/>
          <a:stretch/>
        </p:blipFill>
        <p:spPr>
          <a:xfrm>
            <a:off x="743040" y="3534120"/>
            <a:ext cx="26640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TextBox 16"/>
          <p:cNvSpPr/>
          <p:nvPr/>
        </p:nvSpPr>
        <p:spPr>
          <a:xfrm>
            <a:off x="1257120" y="3409920"/>
            <a:ext cx="2133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Relations entre Établissements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7"/>
          <p:cNvSpPr/>
          <p:nvPr/>
        </p:nvSpPr>
        <p:spPr>
          <a:xfrm>
            <a:off x="1257120" y="401940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Créer des liens: hôpital ↔ pharmacie proche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18"/>
          <p:cNvSpPr/>
          <p:nvPr/>
        </p:nvSpPr>
        <p:spPr>
          <a:xfrm>
            <a:off x="3733560" y="3257640"/>
            <a:ext cx="3123720" cy="1371240"/>
          </a:xfrm>
          <a:prstGeom prst="roundRect">
            <a:avLst>
              <a:gd name="adj" fmla="val 16666"/>
            </a:avLst>
          </a:prstGeom>
          <a:solidFill>
            <a:srgbClr val="44b54b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ounded Rectangle 19"/>
          <p:cNvSpPr/>
          <p:nvPr/>
        </p:nvSpPr>
        <p:spPr>
          <a:xfrm>
            <a:off x="3924360" y="3409920"/>
            <a:ext cx="456840" cy="456840"/>
          </a:xfrm>
          <a:prstGeom prst="roundRect">
            <a:avLst>
              <a:gd name="adj" fmla="val 33333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6" name="Picture 20" descr="image.png"/>
          <p:cNvPicPr/>
          <p:nvPr/>
        </p:nvPicPr>
        <p:blipFill>
          <a:blip r:embed="rId4"/>
          <a:stretch/>
        </p:blipFill>
        <p:spPr>
          <a:xfrm>
            <a:off x="4019400" y="3525480"/>
            <a:ext cx="26640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Box 21"/>
          <p:cNvSpPr/>
          <p:nvPr/>
        </p:nvSpPr>
        <p:spPr>
          <a:xfrm>
            <a:off x="4533840" y="340992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Enrichir les Données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2"/>
          <p:cNvSpPr/>
          <p:nvPr/>
        </p:nvSpPr>
        <p:spPr>
          <a:xfrm>
            <a:off x="4533840" y="375300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Horaires, téléphone, spécialités, urgences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23"/>
          <p:cNvSpPr/>
          <p:nvPr/>
        </p:nvSpPr>
        <p:spPr>
          <a:xfrm>
            <a:off x="457200" y="4781520"/>
            <a:ext cx="3123720" cy="1142640"/>
          </a:xfrm>
          <a:prstGeom prst="roundRect">
            <a:avLst>
              <a:gd name="adj" fmla="val 20000"/>
            </a:avLst>
          </a:prstGeom>
          <a:solidFill>
            <a:srgbClr val="44b54b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Rounded Rectangle 24"/>
          <p:cNvSpPr/>
          <p:nvPr/>
        </p:nvSpPr>
        <p:spPr>
          <a:xfrm>
            <a:off x="647640" y="4933800"/>
            <a:ext cx="456840" cy="456840"/>
          </a:xfrm>
          <a:prstGeom prst="roundRect">
            <a:avLst>
              <a:gd name="adj" fmla="val 33333"/>
            </a:avLst>
          </a:prstGeom>
          <a:solidFill>
            <a:srgbClr val="44b54b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Picture 25" descr="image.png"/>
          <p:cNvPicPr/>
          <p:nvPr/>
        </p:nvPicPr>
        <p:blipFill>
          <a:blip r:embed="rId5"/>
          <a:stretch/>
        </p:blipFill>
        <p:spPr>
          <a:xfrm>
            <a:off x="743040" y="5067000"/>
            <a:ext cx="2664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Box 26"/>
          <p:cNvSpPr/>
          <p:nvPr/>
        </p:nvSpPr>
        <p:spPr>
          <a:xfrm>
            <a:off x="1257120" y="4933800"/>
            <a:ext cx="21333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Déploiement Production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7"/>
          <p:cNvSpPr/>
          <p:nvPr/>
        </p:nvSpPr>
        <p:spPr>
          <a:xfrm>
            <a:off x="1257120" y="5543640"/>
            <a:ext cx="2133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839" b="0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Docker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+ Gunicorn + HTTPS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28"/>
          <p:cNvSpPr/>
          <p:nvPr/>
        </p:nvSpPr>
        <p:spPr>
          <a:xfrm>
            <a:off x="3733560" y="4781520"/>
            <a:ext cx="3123720" cy="1142640"/>
          </a:xfrm>
          <a:prstGeom prst="roundRect">
            <a:avLst>
              <a:gd name="adj" fmla="val 20000"/>
            </a:avLst>
          </a:prstGeom>
          <a:solidFill>
            <a:srgbClr val="1399ff">
              <a:alpha val="4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ounded Rectangle 29"/>
          <p:cNvSpPr/>
          <p:nvPr/>
        </p:nvSpPr>
        <p:spPr>
          <a:xfrm>
            <a:off x="3924360" y="4933800"/>
            <a:ext cx="456840" cy="456840"/>
          </a:xfrm>
          <a:prstGeom prst="roundRect">
            <a:avLst>
              <a:gd name="adj" fmla="val 33333"/>
            </a:avLst>
          </a:prstGeom>
          <a:solidFill>
            <a:srgbClr val="1399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6" name="Picture 30" descr="image.png"/>
          <p:cNvPicPr/>
          <p:nvPr/>
        </p:nvPicPr>
        <p:blipFill>
          <a:blip r:embed="rId6"/>
          <a:stretch/>
        </p:blipFill>
        <p:spPr>
          <a:xfrm>
            <a:off x="4019400" y="5037840"/>
            <a:ext cx="26640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Box 31"/>
          <p:cNvSpPr/>
          <p:nvPr/>
        </p:nvSpPr>
        <p:spPr>
          <a:xfrm>
            <a:off x="4533840" y="493380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defTabSz="457200">
              <a:lnSpc>
                <a:spcPts val="1820"/>
              </a:lnSpc>
              <a:spcAft>
                <a:spcPts val="519"/>
              </a:spcAft>
            </a:pPr>
            <a:r>
              <a:rPr lang="en-US" sz="1070" b="1" u="none" strike="noStrike">
                <a:solidFill>
                  <a:srgbClr val="1399ff"/>
                </a:solidFill>
                <a:effectLst/>
                <a:uFillTx/>
                <a:latin typeface="Source Code Pro"/>
              </a:rPr>
              <a:t>Application Mobile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2"/>
          <p:cNvSpPr/>
          <p:nvPr/>
        </p:nvSpPr>
        <p:spPr>
          <a:xfrm>
            <a:off x="4533840" y="52768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defTabSz="457200">
              <a:lnSpc>
                <a:spcPts val="1559"/>
              </a:lnSpc>
            </a:pP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Développement </a:t>
            </a:r>
            <a:r>
              <a:rPr lang="en-US" sz="960" b="1" u="none" strike="noStrike">
                <a:solidFill>
                  <a:srgbClr val="44b54b"/>
                </a:solidFill>
                <a:effectLst/>
                <a:uFillTx/>
                <a:latin typeface="Roboto Flex"/>
              </a:rPr>
              <a:t>React Native</a:t>
            </a:r>
            <a:r>
              <a:rPr lang="en-US" sz="960" b="0" u="none" strike="noStrike">
                <a:solidFill>
                  <a:srgbClr val="666666"/>
                </a:solidFill>
                <a:effectLst/>
                <a:uFillTx/>
                <a:latin typeface="Roboto Flex"/>
              </a:rPr>
              <a:t> ou Flutter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33"/>
          <p:cNvSpPr/>
          <p:nvPr/>
        </p:nvSpPr>
        <p:spPr>
          <a:xfrm>
            <a:off x="7314840" y="571680"/>
            <a:ext cx="4419000" cy="5714640"/>
          </a:xfrm>
          <a:prstGeom prst="roundRect">
            <a:avLst>
              <a:gd name="adj" fmla="val 16667"/>
            </a:avLst>
          </a:prstGeom>
          <a:blipFill rotWithShape="0">
            <a:blip r:embed="rId7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ounded Rectangle 34"/>
          <p:cNvSpPr/>
          <p:nvPr/>
        </p:nvSpPr>
        <p:spPr>
          <a:xfrm>
            <a:off x="7314840" y="5791320"/>
            <a:ext cx="4419000" cy="495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35"/>
          <p:cNvSpPr/>
          <p:nvPr/>
        </p:nvSpPr>
        <p:spPr>
          <a:xfrm>
            <a:off x="7543440" y="5943600"/>
            <a:ext cx="3961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301"/>
              </a:lnSpc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Futur des technologies de santé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44b54b">
                  <a:alpha val="92000"/>
                </a:srgbClr>
              </a:gs>
              <a:gs pos="100000">
                <a:srgbClr val="1399ff">
                  <a:alpha val="92000"/>
                </a:srgbClr>
              </a:gs>
            </a:gsLst>
            <a:lin ang="81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3"/>
          <p:cNvSpPr/>
          <p:nvPr/>
        </p:nvSpPr>
        <p:spPr>
          <a:xfrm>
            <a:off x="4381560" y="47520"/>
            <a:ext cx="3428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3900"/>
              </a:lnSpc>
              <a:spcAft>
                <a:spcPts val="3121"/>
              </a:spcAft>
            </a:pPr>
            <a:r>
              <a:rPr lang="en-US" sz="35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Conclusion</a:t>
            </a:r>
            <a:endParaRPr lang="en-US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4"/>
          <p:cNvSpPr/>
          <p:nvPr/>
        </p:nvSpPr>
        <p:spPr>
          <a:xfrm>
            <a:off x="1219320" y="1076400"/>
            <a:ext cx="97531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54720" bIns="54720" anchor="ctr">
            <a:spAutoFit/>
          </a:bodyPr>
          <a:p>
            <a:pPr algn="ctr" defTabSz="457200">
              <a:lnSpc>
                <a:spcPts val="2534"/>
              </a:lnSpc>
              <a:spcAft>
                <a:spcPts val="2081"/>
              </a:spcAft>
            </a:pPr>
            <a:r>
              <a:rPr lang="en-US" sz="143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 Ce projet démontre comment exploiter les </a:t>
            </a: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données ouvertes</a:t>
            </a:r>
            <a:r>
              <a:rPr lang="en-US" sz="143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 et les technologies modernes pour créer des outils utiles au citoyen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5"/>
          <p:cNvSpPr/>
          <p:nvPr/>
        </p:nvSpPr>
        <p:spPr>
          <a:xfrm>
            <a:off x="1219320" y="2124000"/>
            <a:ext cx="3095280" cy="1371240"/>
          </a:xfrm>
          <a:prstGeom prst="roundRect">
            <a:avLst>
              <a:gd name="adj" fmla="val 16666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7" name="Picture 6" descr="image.png"/>
          <p:cNvPicPr/>
          <p:nvPr/>
        </p:nvPicPr>
        <p:blipFill>
          <a:blip r:embed="rId2"/>
          <a:stretch/>
        </p:blipFill>
        <p:spPr>
          <a:xfrm>
            <a:off x="2600280" y="2341080"/>
            <a:ext cx="34236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Box 7"/>
          <p:cNvSpPr/>
          <p:nvPr/>
        </p:nvSpPr>
        <p:spPr>
          <a:xfrm>
            <a:off x="1447920" y="2771640"/>
            <a:ext cx="263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OpenStreetMap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8"/>
          <p:cNvSpPr/>
          <p:nvPr/>
        </p:nvSpPr>
        <p:spPr>
          <a:xfrm>
            <a:off x="1447920" y="3076560"/>
            <a:ext cx="2638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  <a:spcBef>
                <a:spcPts val="261"/>
              </a:spcBef>
            </a:pPr>
            <a:r>
              <a:rPr lang="en-US" sz="96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Données ouvertes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9"/>
          <p:cNvSpPr/>
          <p:nvPr/>
        </p:nvSpPr>
        <p:spPr>
          <a:xfrm>
            <a:off x="4543200" y="2124000"/>
            <a:ext cx="3095280" cy="1371240"/>
          </a:xfrm>
          <a:prstGeom prst="roundRect">
            <a:avLst>
              <a:gd name="adj" fmla="val 16666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1" name="Picture 10" descr="image.png"/>
          <p:cNvPicPr/>
          <p:nvPr/>
        </p:nvPicPr>
        <p:blipFill>
          <a:blip r:embed="rId3"/>
          <a:stretch/>
        </p:blipFill>
        <p:spPr>
          <a:xfrm>
            <a:off x="5924520" y="2352960"/>
            <a:ext cx="342360" cy="26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Box 11"/>
          <p:cNvSpPr/>
          <p:nvPr/>
        </p:nvSpPr>
        <p:spPr>
          <a:xfrm>
            <a:off x="4771800" y="2771640"/>
            <a:ext cx="263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Neo4j Spatial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2"/>
          <p:cNvSpPr/>
          <p:nvPr/>
        </p:nvSpPr>
        <p:spPr>
          <a:xfrm>
            <a:off x="4771800" y="3076560"/>
            <a:ext cx="2638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  <a:spcBef>
                <a:spcPts val="261"/>
              </a:spcBef>
            </a:pPr>
            <a:r>
              <a:rPr lang="en-US" sz="96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Recherche géographique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13"/>
          <p:cNvSpPr/>
          <p:nvPr/>
        </p:nvSpPr>
        <p:spPr>
          <a:xfrm>
            <a:off x="7876800" y="2124000"/>
            <a:ext cx="3095280" cy="1371240"/>
          </a:xfrm>
          <a:prstGeom prst="roundRect">
            <a:avLst>
              <a:gd name="adj" fmla="val 16666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5" name="Picture 14" descr="image.png"/>
          <p:cNvPicPr/>
          <p:nvPr/>
        </p:nvPicPr>
        <p:blipFill>
          <a:blip r:embed="rId4"/>
          <a:stretch/>
        </p:blipFill>
        <p:spPr>
          <a:xfrm>
            <a:off x="9248400" y="2364840"/>
            <a:ext cx="342360" cy="24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Box 15"/>
          <p:cNvSpPr/>
          <p:nvPr/>
        </p:nvSpPr>
        <p:spPr>
          <a:xfrm>
            <a:off x="8105400" y="2771640"/>
            <a:ext cx="2638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lang="en-US" sz="1070" b="1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Flask + Leaflet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6"/>
          <p:cNvSpPr/>
          <p:nvPr/>
        </p:nvSpPr>
        <p:spPr>
          <a:xfrm>
            <a:off x="8105400" y="3076560"/>
            <a:ext cx="2638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559"/>
              </a:lnSpc>
              <a:spcBef>
                <a:spcPts val="261"/>
              </a:spcBef>
            </a:pPr>
            <a:r>
              <a:rPr lang="en-US" sz="96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Prototypage rapide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17"/>
          <p:cNvSpPr/>
          <p:nvPr/>
        </p:nvSpPr>
        <p:spPr>
          <a:xfrm>
            <a:off x="1219320" y="3876840"/>
            <a:ext cx="9753120" cy="137124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18"/>
          <p:cNvSpPr/>
          <p:nvPr/>
        </p:nvSpPr>
        <p:spPr>
          <a:xfrm>
            <a:off x="3429000" y="4105440"/>
            <a:ext cx="19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3900"/>
              </a:lnSpc>
              <a:spcAft>
                <a:spcPts val="519"/>
              </a:spcAft>
            </a:pPr>
            <a:r>
              <a:rPr lang="en-US" sz="35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433</a:t>
            </a:r>
            <a:endParaRPr lang="en-US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9"/>
          <p:cNvSpPr/>
          <p:nvPr/>
        </p:nvSpPr>
        <p:spPr>
          <a:xfrm>
            <a:off x="3429000" y="4753080"/>
            <a:ext cx="1980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Établissements indexés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20"/>
          <p:cNvSpPr/>
          <p:nvPr/>
        </p:nvSpPr>
        <p:spPr>
          <a:xfrm>
            <a:off x="5705280" y="4181400"/>
            <a:ext cx="9000" cy="76176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21"/>
          <p:cNvSpPr/>
          <p:nvPr/>
        </p:nvSpPr>
        <p:spPr>
          <a:xfrm>
            <a:off x="6019560" y="4162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3121"/>
              </a:lnSpc>
              <a:spcAft>
                <a:spcPts val="519"/>
              </a:spcAft>
            </a:pPr>
            <a:r>
              <a:rPr lang="en-US" sz="287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Temps Réel</a:t>
            </a:r>
            <a:endParaRPr lang="en-US" sz="2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2"/>
          <p:cNvSpPr/>
          <p:nvPr/>
        </p:nvSpPr>
        <p:spPr>
          <a:xfrm>
            <a:off x="6019560" y="4695840"/>
            <a:ext cx="274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182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Recherche par proximité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23"/>
          <p:cNvSpPr/>
          <p:nvPr/>
        </p:nvSpPr>
        <p:spPr>
          <a:xfrm>
            <a:off x="2095560" y="6086520"/>
            <a:ext cx="8000280" cy="723600"/>
          </a:xfrm>
          <a:prstGeom prst="roundRect">
            <a:avLst>
              <a:gd name="adj" fmla="val 31578"/>
            </a:avLst>
          </a:prstGeom>
          <a:solidFill>
            <a:srgbClr val="ffffff">
              <a:alpha val="2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5" name="Picture 24" descr="image.png"/>
          <p:cNvPicPr/>
          <p:nvPr/>
        </p:nvPicPr>
        <p:blipFill>
          <a:blip r:embed="rId5"/>
          <a:stretch/>
        </p:blipFill>
        <p:spPr>
          <a:xfrm>
            <a:off x="2476440" y="6328440"/>
            <a:ext cx="304560" cy="2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Box 25"/>
          <p:cNvSpPr/>
          <p:nvPr/>
        </p:nvSpPr>
        <p:spPr>
          <a:xfrm>
            <a:off x="2933640" y="6276960"/>
            <a:ext cx="4628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341"/>
              </a:lnSpc>
            </a:pPr>
            <a:r>
              <a:rPr lang="en-US" sz="1790" b="1" u="none" strike="noStrike">
                <a:solidFill>
                  <a:srgbClr val="ffffff"/>
                </a:solidFill>
                <a:effectLst/>
                <a:uFillTx/>
                <a:latin typeface="Source Code Pro"/>
              </a:rPr>
              <a:t>Merci pour votre attention!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6" descr="image.png"/>
          <p:cNvPicPr/>
          <p:nvPr/>
        </p:nvPicPr>
        <p:blipFill>
          <a:blip r:embed="rId6"/>
          <a:stretch/>
        </p:blipFill>
        <p:spPr>
          <a:xfrm>
            <a:off x="7715160" y="6319440"/>
            <a:ext cx="304560" cy="25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Box 27"/>
          <p:cNvSpPr/>
          <p:nvPr/>
        </p:nvSpPr>
        <p:spPr>
          <a:xfrm>
            <a:off x="8172360" y="6296040"/>
            <a:ext cx="1542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3080" rIns="73080" tIns="54720" bIns="54720" anchor="ctr">
            <a:spAutoFit/>
          </a:bodyPr>
          <a:p>
            <a:pPr algn="ctr" defTabSz="457200">
              <a:lnSpc>
                <a:spcPts val="2081"/>
              </a:lnSpc>
            </a:pPr>
            <a:r>
              <a:rPr lang="en-US" sz="1430" b="0" u="none" strike="noStrike">
                <a:solidFill>
                  <a:srgbClr val="ffffff"/>
                </a:solidFill>
                <a:effectLst/>
                <a:uFillTx/>
                <a:latin typeface="Roboto Flex"/>
              </a:rPr>
              <a:t>Des questions?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2026-03-09T02:07:31Z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